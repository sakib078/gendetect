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Macro-F1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9616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Classical (LinearSVC)</c:v>
                  </c:pt>
                  <c:pt idx="1">
                    <c:v>DistilBERT (fine-tuned)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99.97</c:v>
                </c:pt>
                <c:pt idx="1">
                  <c:v>99.95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0" i="0" strike="noStrike" sz="14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A2A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99.8"/>
        </c:scaling>
        <c:delete val="0"/>
        <c:axPos val="l"/>
        <c:majorGridlines>
          <c:spPr>
            <a:ln w="12700" cap="flat">
              <a:solidFill>
                <a:srgbClr val="EEEEEE"/>
              </a:solidFill>
              <a:prstDash val="solid"/>
              <a:round/>
            </a:ln>
          </c:spPr>
        </c:majorGridlines>
        <c:numFmt formatCode="0.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AITrace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22960" y="32461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AI-Generated Text: Classical ML vs. Transformer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</a:rPr>
              <a:t>SEA 820 — Natural Language Processing  |  Final Project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5852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Kunal (Member B — Transformer &amp; Deployment)  ·  Sakib Mansuri (Member A — Classical ML &amp; Data)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you tell human writing from AI writing?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6400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A2A2A"/>
                </a:solidFill>
              </a:rPr>
              <a:t>Large language models like GPT have made AI-generated text nearly indistinguishable from human writing — with direct consequences for academic integrity, content moderation, and misinformation.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383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Our Goal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379476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A2A2A"/>
                </a:solidFill>
              </a:rPr>
              <a:t>Build and rigorously compare two approaches to classifying text as human-written or AI-generated — and critically evaluate whether high accuracy actually means genuine detection ability.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498080" y="1737360"/>
            <a:ext cx="4023360" cy="4206240"/>
          </a:xfrm>
          <a:prstGeom prst="roundRect">
            <a:avLst>
              <a:gd name="adj" fmla="val 2727"/>
            </a:avLst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0" y="219456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</a:rPr>
              <a:t>487,231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7498080" y="306324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labeled text samples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(human vs. AI)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55280" y="3886200"/>
            <a:ext cx="3108960" cy="0"/>
          </a:xfrm>
          <a:prstGeom prst="line">
            <a:avLst/>
          </a:prstGeom>
          <a:noFill/>
          <a:ln w="12700">
            <a:solidFill>
              <a:srgbClr val="E2E4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0" y="406908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</a:rPr>
              <a:t>62.8% / 37.2%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498080" y="46177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human / AI class split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55280" y="5166360"/>
            <a:ext cx="3108960" cy="0"/>
          </a:xfrm>
          <a:prstGeom prst="line">
            <a:avLst/>
          </a:prstGeom>
          <a:noFill/>
          <a:ln w="12700">
            <a:solidFill>
              <a:srgbClr val="E2E4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0" y="530352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</a:rPr>
              <a:t>2 Models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498080" y="58064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Classical ML vs. fine-tuned Transformer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very different ways to read text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12080" cy="4114800"/>
          </a:xfrm>
          <a:prstGeom prst="roundRect">
            <a:avLst>
              <a:gd name="adj" fmla="val 2667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219456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45920" y="221284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Classical: TF-IDF + LinearSVC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278892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ADCFC"/>
                </a:solidFill>
              </a:rPr>
              <a:t>Counts which words appear and how often. No understanding of word order or context — pure statistical pattern-matching.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384048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• Unigrams + bigrams, 50,000 features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• + engineered length features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• Compared 4 classifiers on validation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• Owner: Sakib (Member A)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1828800"/>
            <a:ext cx="5212080" cy="4114800"/>
          </a:xfrm>
          <a:prstGeom prst="roundRect">
            <a:avLst>
              <a:gd name="adj" fmla="val 2667"/>
            </a:avLst>
          </a:prstGeom>
          <a:solidFill>
            <a:srgbClr val="02C39A"/>
          </a:solidFill>
          <a:ln/>
        </p:spPr>
      </p:sp>
      <p:sp>
        <p:nvSpPr>
          <p:cNvPr id="11" name="Shape 9"/>
          <p:cNvSpPr/>
          <p:nvPr/>
        </p:nvSpPr>
        <p:spPr>
          <a:xfrm>
            <a:off x="6675120" y="21945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0" y="221284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Transformer: Fine-tuned DistilBERT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675120" y="278892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AFBF6"/>
                </a:solidFill>
              </a:rPr>
              <a:t>Actually processes text in context — understands grammar and word relationships, not just word counts.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75120" y="384048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• Pretrained on large-scale English text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• Fine-tuned via HuggingFace Trainer API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• Trained on full 341K-row training set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• Owner: Kunal (Member B)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shared split, two model-ready datasets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2A2A2A"/>
                </a:solidFill>
              </a:rPr>
              <a:t>Both models must be evaluated fairly. We built a single canonical stratified train/val/test split, reused identically by both models — never regenerated with different parameters.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651760"/>
            <a:ext cx="3291840" cy="1554480"/>
          </a:xfrm>
          <a:prstGeom prst="roundRect">
            <a:avLst>
              <a:gd name="adj" fmla="val 5882"/>
            </a:avLst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74320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</a:rPr>
              <a:t>341,061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22960" y="35204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Train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06240" y="3246120"/>
            <a:ext cx="457200" cy="365760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9" name="Shape 7"/>
          <p:cNvSpPr/>
          <p:nvPr/>
        </p:nvSpPr>
        <p:spPr>
          <a:xfrm>
            <a:off x="4617720" y="2651760"/>
            <a:ext cx="3291840" cy="1554480"/>
          </a:xfrm>
          <a:prstGeom prst="roundRect">
            <a:avLst>
              <a:gd name="adj" fmla="val 5882"/>
            </a:avLst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274320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</a:rPr>
              <a:t>73,085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617720" y="35204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Validation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01000" y="3246120"/>
            <a:ext cx="457200" cy="365760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13" name="Shape 11"/>
          <p:cNvSpPr/>
          <p:nvPr/>
        </p:nvSpPr>
        <p:spPr>
          <a:xfrm>
            <a:off x="8412480" y="2651760"/>
            <a:ext cx="3291840" cy="1554480"/>
          </a:xfrm>
          <a:prstGeom prst="roundRect">
            <a:avLst>
              <a:gd name="adj" fmla="val 5882"/>
            </a:avLst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274320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96167"/>
                </a:solidFill>
              </a:rPr>
              <a:t>73,085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8412480" y="35204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Test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4572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Two cleaning branches from one shared base: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" y="5029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</a:rPr>
              <a:t>classical_preprocess()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53492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</a:rPr>
              <a:t>lowercase, strip punctuation/stopwords, lemmatize — for TF-IDF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217920" y="5029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</a:rPr>
              <a:t>transformer_text()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17920" y="53492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</a:rPr>
              <a:t>keeps case &amp; punctuation — the tokenizer needs that context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Nearly a dead heat — on this test set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737360"/>
          <a:ext cx="667512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1737360"/>
            <a:ext cx="3931920" cy="4023360"/>
          </a:xfrm>
          <a:prstGeom prst="roundRect">
            <a:avLst>
              <a:gd name="adj" fmla="val 2326"/>
            </a:avLst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589520" y="201168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</a:rPr>
              <a:t>0.02 pts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589520" y="27432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difference in macro-F1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863840" y="3383280"/>
            <a:ext cx="3474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A2A2A"/>
                </a:solidFill>
              </a:rPr>
              <a:t>Both evaluated on the identical, untouched 73,085-row test set. A comparatively simple linear model matched a fine-tuned Transformer almost exactly.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TWIST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10424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99.9%+ score should make you suspicious, not confident.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31089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CADCFC"/>
                </a:solidFill>
              </a:rPr>
              <a:t>When every classical model we tried — from Naive Bayes to LinearSVC — landed near the ceiling, that's a signal the task is unusually easy, not that any model is especially clever.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4206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</a:rPr>
              <a:t>So we asked: what is each model actually learning?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Both models lean on surface-level shortcuts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</a:rPr>
              <a:t>Classical Model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</a:rPr>
              <a:t>Top predictive features included: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2A2A2A"/>
                </a:solidFill>
              </a:rPr>
              <a:t>• Placeholder tokens ("student name")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2A2A2A"/>
                </a:solidFill>
              </a:rPr>
              <a:t>• Prompt-topic words ("venus", "electoral")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2A2A2A"/>
                </a:solidFill>
              </a:rPr>
              <a:t>• Formal discourse markers ("firstly", "in conclusion")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3840480"/>
            <a:ext cx="5212080" cy="1005840"/>
          </a:xfrm>
          <a:prstGeom prst="roundRect">
            <a:avLst>
              <a:gd name="adj" fmla="val 7273"/>
            </a:avLst>
          </a:prstGeom>
          <a:solidFill>
            <a:srgbClr val="FFF1F0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97764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8A2E27"/>
                </a:solidFill>
              </a:rPr>
              <a:t>~9 of top 50 features are outright dataset artifacts, not writing-style signal.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09360" y="17373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Transformer Model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309360" y="21488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</a:rPr>
              <a:t>Misclassification patterns: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92240" y="251460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2A2A2A"/>
                </a:solidFill>
              </a:rPr>
              <a:t>• Typos/glitches → predicted "human"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2A2A2A"/>
                </a:solidFill>
              </a:rPr>
              <a:t>• Formal essay openings → predicted "AI"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2A2A2A"/>
                </a:solidFill>
              </a:rPr>
              <a:t>• Text length ruled out as a factor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309360" y="3840480"/>
            <a:ext cx="5212080" cy="1005840"/>
          </a:xfrm>
          <a:prstGeom prst="roundRect">
            <a:avLst>
              <a:gd name="adj" fmla="val 7273"/>
            </a:avLst>
          </a:prstGeom>
          <a:solidFill>
            <a:srgbClr val="E9FBF6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397764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0B6B57"/>
                </a:solidFill>
              </a:rPr>
              <a:t>31 of 73,085 test rows misclassified — same underlying pattern as the classical model.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50749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Two independently-built models converging on the same shortcut is strong evidence — not a coincidence.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 TEST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99.97% became 83% on real documents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A2A"/>
                </a:solidFill>
              </a:rPr>
              <a:t>We tested the classical model on 6 real-world PDFs — 3 matched human/AI pairs on the same topics.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0881360" cy="1554480"/>
          </a:xfrm>
          <a:prstGeom prst="roundRect">
            <a:avLst>
              <a:gd name="adj" fmla="val 5882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423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</a:rPr>
              <a:t>The "aspirin history" pair — the smoking gun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78892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A human-written and an AI-written document on the same topic were BOTH classified "AI" — at nearly identical confidence (97.9% vs. 97.1%).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337560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</a:rPr>
              <a:t>Same topic → same verdict → the model reads topic, not authorship.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416052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96167"/>
                </a:solidFill>
              </a:rPr>
              <a:t>99.97%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40080" y="49377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7280"/>
                </a:solidFill>
              </a:rPr>
              <a:t>In-distribution</a:t>
            </a:r>
            <a:endParaRPr lang="en-US" sz="12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7280"/>
                </a:solidFill>
              </a:rPr>
              <a:t>test accuracy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343400" y="416052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</a:rPr>
              <a:t>83%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343400" y="49377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7280"/>
                </a:solidFill>
              </a:rPr>
              <a:t>Real PDF</a:t>
            </a:r>
            <a:endParaRPr lang="en-US" sz="12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7280"/>
                </a:solidFill>
              </a:rPr>
              <a:t>documents (5/6)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046720" y="416052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C39A"/>
                </a:solidFill>
              </a:rPr>
              <a:t>~50%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8046720" y="49377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7280"/>
                </a:solidFill>
              </a:rPr>
              <a:t>Short informal</a:t>
            </a:r>
            <a:endParaRPr lang="en-US" sz="12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7280"/>
                </a:solidFill>
              </a:rPr>
              <a:t>text (chance level)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CONSIDERATIONS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benchmark score is not deployment-ready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864" cy="10058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8308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Who's harmed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206240" y="178308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2A2A2A"/>
                </a:solidFill>
              </a:rPr>
              <a:t>Short, informal, or non-native writing styles are more likely to be misflagged — disproportionately affecting non-native speakers and younger writers.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154680"/>
            <a:ext cx="54864" cy="10058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10896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Trusting the number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206240" y="310896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2A2A2A"/>
                </a:solidFill>
              </a:rPr>
              <a:t>99.97% collapsed to ~50% on short text. Deploying on the benchmark score alone risks false, high-confidence accusations.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480560"/>
            <a:ext cx="54864" cy="10058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43484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Bias in the data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206240" y="443484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2A2A2A"/>
                </a:solidFill>
              </a:rPr>
              <a:t>Both models partly learn fixed-prompt and pipeline-specific artifacts — not a universal notion of "AI-ness."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10241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performance on the benchmark. Largely unproven in the wild.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CADCFC"/>
                </a:solidFill>
              </a:rPr>
              <a:t>Both models converge on near-ceiling in-distribution accuracy by leaning on dataset artifacts and surface-level cues, not deep authorship understanding.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3657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Next steps: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06908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• Run the same OOD generalization tests on the Transformer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• Train on a more diverse, multi-source dataset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• Calibrate confidence scores so they reflect real uncertainty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• Explore larger models (RoBERTa) or PEFT/LoRA fine-tuning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246888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005840" y="32918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B7280"/>
                </a:solidFill>
              </a:rPr>
              <a:t>Questions?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05840" y="5120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C39A"/>
                </a:solidFill>
              </a:rPr>
              <a:t>github.com/sakib078/GenDetect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5486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Kunal (Member B)  ·  Sakib Mansuri (Member A)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2026-08-04T19:11:38Z</dcterms:created>
  <dcterms:modified xsi:type="dcterms:W3CDTF">2026-08-04T19:11:38Z</dcterms:modified>
</cp:coreProperties>
</file>